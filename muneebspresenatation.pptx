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A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A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320040"/>
            <a:ext cx="93726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AFCFF"/>
                </a:solidFill>
                <a:latin typeface="Aptos"/>
              </a:rPr>
              <a:t>AMAR SINGH COLLEGE, SRINAGAR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749808"/>
            <a:ext cx="9372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AAD4B"/>
                </a:solidFill>
                <a:latin typeface="Aptos"/>
              </a:rPr>
              <a:t>Affiliated with Cluster University of Srinagar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25296"/>
            <a:ext cx="1036015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CEDAE7"/>
                </a:solidFill>
                <a:latin typeface="Aptos"/>
              </a:rPr>
              <a:t>DEPARTMENT OF BACHELOR OF COMPUTER APPLICATIONS (BCA)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55648"/>
            <a:ext cx="10360152" cy="1143000"/>
          </a:xfrm>
          <a:prstGeom prst="roundRect">
            <a:avLst/>
          </a:prstGeom>
          <a:solidFill>
            <a:srgbClr val="13233A"/>
          </a:solidFill>
          <a:ln>
            <a:solidFill>
              <a:srgbClr val="177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38528"/>
            <a:ext cx="990295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AFCFF"/>
                </a:solidFill>
                <a:latin typeface="Aptos"/>
              </a:rPr>
              <a:t>COMPONENTS OF MULTIMEDIA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496312"/>
            <a:ext cx="9902952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AAD4B"/>
                </a:solidFill>
                <a:latin typeface="Aptos"/>
              </a:rPr>
              <a:t>APPLIED COMPUTING • FIRST SEMESTER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182112"/>
            <a:ext cx="9445752" cy="2487168"/>
          </a:xfrm>
          <a:prstGeom prst="roundRect">
            <a:avLst/>
          </a:prstGeom>
          <a:solidFill>
            <a:srgbClr val="EA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3364992"/>
            <a:ext cx="3749039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77589"/>
                </a:solidFill>
                <a:latin typeface="Aptos"/>
              </a:rP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611880"/>
            <a:ext cx="4023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0C182C"/>
                </a:solidFill>
                <a:latin typeface="Aptos"/>
              </a:rPr>
              <a:t>Muneeb Fayaz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041648"/>
            <a:ext cx="4023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0C182C"/>
                </a:solidFill>
                <a:latin typeface="Aptos"/>
              </a:rPr>
              <a:t>Roll No. 2606038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361688"/>
            <a:ext cx="4023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0C182C"/>
                </a:solidFill>
                <a:latin typeface="Aptos"/>
              </a:rPr>
              <a:t>Department: BCA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3547872"/>
            <a:ext cx="22860" cy="1691640"/>
          </a:xfrm>
          <a:prstGeom prst="rect">
            <a:avLst/>
          </a:prstGeom>
          <a:solidFill>
            <a:srgbClr val="B7C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364992"/>
            <a:ext cx="3931920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77589"/>
                </a:solidFill>
                <a:latin typeface="Aptos"/>
              </a:rPr>
              <a:t>ACADEMIC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675887"/>
            <a:ext cx="3931920" cy="301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0C182C"/>
                </a:solidFill>
                <a:latin typeface="Aptos"/>
              </a:rPr>
              <a:t>Subject: Applied Computing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050791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0C182C"/>
                </a:solidFill>
                <a:latin typeface="Aptos"/>
              </a:rPr>
              <a:t>Semester: 1st Semester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407408"/>
            <a:ext cx="39319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0C182C"/>
                </a:solidFill>
                <a:latin typeface="Aptos"/>
              </a:rPr>
              <a:t>Teacher In-Charge: Dr. Rafiya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897880"/>
            <a:ext cx="10177272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CEDAE7"/>
                </a:solidFill>
                <a:latin typeface="Aptos"/>
              </a:rPr>
              <a:t>AMAR SINGH COLLEGE • SRINAGAR, JAMMU &amp; KASHMIR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6199632"/>
            <a:ext cx="1017727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DAAD4B"/>
                </a:solidFill>
                <a:latin typeface="Aptos"/>
              </a:rPr>
              <a:t>CLUSTER UNIVERSITY OF SRINAGAR</a:t>
            </a:r>
          </a:p>
        </p:txBody>
      </p:sp>
      <p:sp>
        <p:nvSpPr>
          <p:cNvPr id="22" name="Oval 21"/>
          <p:cNvSpPr/>
          <p:nvPr/>
        </p:nvSpPr>
        <p:spPr>
          <a:xfrm>
            <a:off x="411480" y="292608"/>
            <a:ext cx="713232" cy="713232"/>
          </a:xfrm>
          <a:prstGeom prst="ellipse">
            <a:avLst/>
          </a:prstGeom>
          <a:solidFill>
            <a:srgbClr val="177589"/>
          </a:solidFill>
          <a:ln w="15240"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" y="448056"/>
            <a:ext cx="6400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AFCFF"/>
                </a:solidFill>
                <a:latin typeface="Aptos"/>
              </a:rPr>
              <a:t>ASC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1024128"/>
            <a:ext cx="804672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600" b="1">
                <a:solidFill>
                  <a:srgbClr val="CEDAE7"/>
                </a:solidFill>
                <a:latin typeface="Aptos"/>
              </a:rPr>
              <a:t>COLLEGE</a:t>
            </a:r>
          </a:p>
        </p:txBody>
      </p:sp>
      <p:sp>
        <p:nvSpPr>
          <p:cNvPr id="25" name="Oval 24"/>
          <p:cNvSpPr/>
          <p:nvPr/>
        </p:nvSpPr>
        <p:spPr>
          <a:xfrm>
            <a:off x="10972800" y="292608"/>
            <a:ext cx="713232" cy="713232"/>
          </a:xfrm>
          <a:prstGeom prst="ellipse">
            <a:avLst/>
          </a:prstGeom>
          <a:solidFill>
            <a:srgbClr val="DAAD4B"/>
          </a:solidFill>
          <a:ln w="15240"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09376" y="448056"/>
            <a:ext cx="6400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AFCFF"/>
                </a:solidFill>
                <a:latin typeface="Aptos"/>
              </a:rPr>
              <a:t>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27080" y="1024128"/>
            <a:ext cx="804672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600" b="1">
                <a:solidFill>
                  <a:srgbClr val="CEDAE7"/>
                </a:solidFill>
                <a:latin typeface="Aptos"/>
              </a:rPr>
              <a:t>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MULTIMEDIA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8FAFC"/>
                </a:solidFill>
                <a:latin typeface="Aptos"/>
              </a:rPr>
              <a:t>What is Multimedia?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8229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1">
                <a:solidFill>
                  <a:srgbClr val="CBD5E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658368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598932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F8FAFC"/>
                </a:solidFill>
                <a:latin typeface="Aptos"/>
              </a:rPr>
              <a:t>Multimedia combines different forms of media to communicate 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383280"/>
            <a:ext cx="5852160" cy="2103120"/>
          </a:xfrm>
          <a:prstGeom prst="rect">
            <a:avLst/>
          </a:prstGeom>
          <a:noFill/>
        </p:spPr>
        <p:txBody>
          <a:bodyPr wrap="square" lIns="73152" rIns="54864" tIns="73152" b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CBD5E1"/>
                </a:solidFill>
                <a:latin typeface="Aptos"/>
              </a:defRPr>
            </a:pPr>
            <a:r>
              <a:t>•  It can include text, pictures, sound, video and animation.</a:t>
            </a:r>
          </a:p>
          <a:p>
            <a:pPr>
              <a:spcAft>
                <a:spcPts val="1200"/>
              </a:spcAft>
              <a:defRPr sz="1700">
                <a:solidFill>
                  <a:srgbClr val="CBD5E1"/>
                </a:solidFill>
                <a:latin typeface="Aptos"/>
              </a:defRPr>
            </a:pPr>
            <a:r>
              <a:t>•  It makes learning and communication more engaging.</a:t>
            </a:r>
          </a:p>
          <a:p>
            <a:pPr>
              <a:spcAft>
                <a:spcPts val="1200"/>
              </a:spcAft>
              <a:defRPr sz="1700">
                <a:solidFill>
                  <a:srgbClr val="CBD5E1"/>
                </a:solidFill>
                <a:latin typeface="Aptos"/>
              </a:defRPr>
            </a:pPr>
            <a:r>
              <a:t>•  It is used in education, entertainment, business and websites.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691640"/>
            <a:ext cx="3794760" cy="4297680"/>
          </a:xfrm>
          <a:prstGeom prst="roundRect">
            <a:avLst/>
          </a:prstGeom>
          <a:solidFill>
            <a:srgbClr val="182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01000" y="2057400"/>
            <a:ext cx="3017520" cy="47548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67128"/>
            <a:ext cx="2743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Aptos"/>
              </a:rPr>
              <a:t>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770632"/>
            <a:ext cx="3017520" cy="47548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880360"/>
            <a:ext cx="2743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Aptos"/>
              </a:rPr>
              <a:t>IMAGE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483864"/>
            <a:ext cx="3017520" cy="475488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3593592"/>
            <a:ext cx="2743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Aptos"/>
              </a:rPr>
              <a:t>AUDIO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197096"/>
            <a:ext cx="3017520" cy="475488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4306824"/>
            <a:ext cx="2743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Aptos"/>
              </a:rPr>
              <a:t>VIDEO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910328"/>
            <a:ext cx="3017520" cy="47548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5020056"/>
            <a:ext cx="2743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Aptos"/>
              </a:rPr>
              <a:t>ANIMATION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CBD5E1"/>
                </a:solidFill>
                <a:latin typeface="Aptos"/>
              </a:rPr>
              <a:t>COMPONENTS OF MULTIMEDIA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MULTIMEDIA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8FAFC"/>
                </a:solidFill>
                <a:latin typeface="Aptos"/>
              </a:rPr>
              <a:t>The Five Main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8229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1">
                <a:solidFill>
                  <a:srgbClr val="CBD5E1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057400" cy="3383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" y="2212848"/>
            <a:ext cx="548640" cy="5029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33172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0F172A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1737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D3EE"/>
                </a:solidFill>
                <a:latin typeface="Aptos"/>
              </a:rPr>
              <a:t>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16916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Words and characters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965960"/>
            <a:ext cx="2057400" cy="3383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72968" y="2212848"/>
            <a:ext cx="548640" cy="5029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72968" y="233172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0F172A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063240"/>
            <a:ext cx="1737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A78BFA"/>
                </a:solidFill>
                <a:latin typeface="Aptos"/>
              </a:rPr>
              <a:t>IMAGES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657600"/>
            <a:ext cx="16916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Photos, drawings, graphics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965960"/>
            <a:ext cx="2057400" cy="3383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58968" y="2212848"/>
            <a:ext cx="548640" cy="50292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58968" y="233172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0F172A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063240"/>
            <a:ext cx="1737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472B6"/>
                </a:solidFill>
                <a:latin typeface="Aptos"/>
              </a:rPr>
              <a:t>AUDIO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657600"/>
            <a:ext cx="16916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Speech, music, sound effects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1965960"/>
            <a:ext cx="2057400" cy="3383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44968" y="2212848"/>
            <a:ext cx="548640" cy="50292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44968" y="233172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0F172A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063240"/>
            <a:ext cx="1737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ACC15"/>
                </a:solidFill>
                <a:latin typeface="Aptos"/>
              </a:rPr>
              <a:t>VIDEO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3657600"/>
            <a:ext cx="16916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Moving real-world visuals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965960"/>
            <a:ext cx="2057400" cy="3383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30968" y="2212848"/>
            <a:ext cx="548640" cy="50292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30968" y="233172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0F172A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3063240"/>
            <a:ext cx="1737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4ADE80"/>
                </a:solidFill>
                <a:latin typeface="Aptos"/>
              </a:rPr>
              <a:t>ANIMATION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3657600"/>
            <a:ext cx="16916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Created movement and effects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669280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0">
                <a:solidFill>
                  <a:srgbClr val="CBD5E1"/>
                </a:solidFill>
                <a:latin typeface="Aptos"/>
              </a:rPr>
              <a:t>Together, these elements create a richer multimedia experience.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CBD5E1"/>
                </a:solidFill>
                <a:latin typeface="Aptos"/>
              </a:rPr>
              <a:t>COMPONENTS OF MULTIMEDIA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MULTIMEDIA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8FAFC"/>
                </a:solidFill>
                <a:latin typeface="Aptos"/>
              </a:rPr>
              <a:t>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8229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1">
                <a:solidFill>
                  <a:srgbClr val="CBD5E1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6629400" cy="4343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59893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8FAFC"/>
                </a:solidFill>
                <a:latin typeface="Aptos"/>
              </a:rPr>
              <a:t>The written information in a multimedia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017520"/>
            <a:ext cx="5989320" cy="2560320"/>
          </a:xfrm>
          <a:prstGeom prst="rect">
            <a:avLst/>
          </a:prstGeom>
          <a:noFill/>
        </p:spPr>
        <p:txBody>
          <a:bodyPr wrap="square" lIns="73152" rIns="54864" tIns="73152" b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Includes titles, headings, labels and paragraphs.</a:t>
            </a:r>
          </a:p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Helps explain ideas clearly and accurately.</a:t>
            </a:r>
          </a:p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Examples: captions, menus, instructions and subtitles.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37360"/>
            <a:ext cx="3749039" cy="4343400"/>
          </a:xfrm>
          <a:prstGeom prst="roundRect">
            <a:avLst/>
          </a:prstGeom>
          <a:solidFill>
            <a:srgbClr val="182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057400"/>
            <a:ext cx="914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743200"/>
            <a:ext cx="658368" cy="65836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2926080"/>
            <a:ext cx="6035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Aptos"/>
              </a:rPr>
              <a:t>Aa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743200"/>
            <a:ext cx="658368" cy="65836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7112" y="2926080"/>
            <a:ext cx="6035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Aptos"/>
              </a:rPr>
              <a:t>Tt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2743200"/>
            <a:ext cx="658368" cy="658368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4352" y="2926080"/>
            <a:ext cx="6035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Aptos"/>
              </a:rPr>
              <a:t>123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983480"/>
            <a:ext cx="32004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EXAMPLE: A title and captions in an educational video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CBD5E1"/>
                </a:solidFill>
                <a:latin typeface="Aptos"/>
              </a:rPr>
              <a:t>COMPONENTS OF MULTIMEDIA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MULTIMEDIA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8FAFC"/>
                </a:solidFill>
                <a:latin typeface="Aptos"/>
              </a:rPr>
              <a:t>Images &amp; Graphics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8229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1">
                <a:solidFill>
                  <a:srgbClr val="CBD5E1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6629400" cy="4343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59893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8FAFC"/>
                </a:solidFill>
                <a:latin typeface="Aptos"/>
              </a:rPr>
              <a:t>Still visuals that help people understand 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017520"/>
            <a:ext cx="5989320" cy="2560320"/>
          </a:xfrm>
          <a:prstGeom prst="rect">
            <a:avLst/>
          </a:prstGeom>
          <a:noFill/>
        </p:spPr>
        <p:txBody>
          <a:bodyPr wrap="square" lIns="73152" rIns="54864" tIns="73152" b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Includes photographs, illustrations, icons, charts and diagrams.</a:t>
            </a:r>
          </a:p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Makes content attractive and easier to remember.</a:t>
            </a:r>
          </a:p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Common formats include JPEG, PNG and SVG.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37360"/>
            <a:ext cx="3749039" cy="4343400"/>
          </a:xfrm>
          <a:prstGeom prst="roundRect">
            <a:avLst/>
          </a:prstGeom>
          <a:solidFill>
            <a:srgbClr val="182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057400"/>
            <a:ext cx="914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A78BFA"/>
                </a:solidFill>
                <a:latin typeface="Aptos"/>
              </a:rPr>
              <a:t>02</a:t>
            </a:r>
          </a:p>
        </p:txBody>
      </p:sp>
      <p:sp>
        <p:nvSpPr>
          <p:cNvPr id="11" name="Oval 10"/>
          <p:cNvSpPr/>
          <p:nvPr/>
        </p:nvSpPr>
        <p:spPr>
          <a:xfrm>
            <a:off x="8092440" y="2743200"/>
            <a:ext cx="658368" cy="65836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19" y="2743200"/>
            <a:ext cx="658368" cy="6583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29800" y="2743200"/>
            <a:ext cx="658368" cy="658368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657600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8FAFC"/>
                </a:solidFill>
                <a:latin typeface="Aptos"/>
              </a:rPr>
              <a:t>Photo  •  Chart  •  Icon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983480"/>
            <a:ext cx="32004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EXAMPLE: A diagram showing parts of a computer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CBD5E1"/>
                </a:solidFill>
                <a:latin typeface="Aptos"/>
              </a:rPr>
              <a:t>COMPONENTS OF MULTIMEDIA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MULTIMEDIA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8FAFC"/>
                </a:solidFill>
                <a:latin typeface="Aptos"/>
              </a:rPr>
              <a:t>Audio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8229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1">
                <a:solidFill>
                  <a:srgbClr val="CBD5E1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6629400" cy="4343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59893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8FAFC"/>
                </a:solidFill>
                <a:latin typeface="Aptos"/>
              </a:rPr>
              <a:t>Sound that adds meaning and emotion.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017520"/>
            <a:ext cx="5989320" cy="2560320"/>
          </a:xfrm>
          <a:prstGeom prst="rect">
            <a:avLst/>
          </a:prstGeom>
          <a:noFill/>
        </p:spPr>
        <p:txBody>
          <a:bodyPr wrap="square" lIns="73152" rIns="54864" tIns="73152" b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Includes speech, narration, music and sound effects.</a:t>
            </a:r>
          </a:p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Can guide attention and make a presentation lively.</a:t>
            </a:r>
          </a:p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Common formats include MP3, WAV and AAC.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37360"/>
            <a:ext cx="3749039" cy="4343400"/>
          </a:xfrm>
          <a:prstGeom prst="roundRect">
            <a:avLst/>
          </a:prstGeom>
          <a:solidFill>
            <a:srgbClr val="182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057400"/>
            <a:ext cx="914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472B6"/>
                </a:solidFill>
                <a:latin typeface="Aptos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154680"/>
            <a:ext cx="164592" cy="4572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11896" y="2971800"/>
            <a:ext cx="164592" cy="82296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22792" y="2766060"/>
            <a:ext cx="164592" cy="123444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33688" y="3040380"/>
            <a:ext cx="164592" cy="6858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44584" y="2880360"/>
            <a:ext cx="164592" cy="100584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55480" y="3131820"/>
            <a:ext cx="164592" cy="50292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66376" y="2811780"/>
            <a:ext cx="164592" cy="11430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177272" y="3017520"/>
            <a:ext cx="164592" cy="73152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488168" y="3177540"/>
            <a:ext cx="164592" cy="41148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4343400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8FAFC"/>
                </a:solidFill>
                <a:latin typeface="Aptos"/>
              </a:rPr>
              <a:t>♪  Sound waves  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4983480"/>
            <a:ext cx="32004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EXAMPLE: Voice-over explaining a science concept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CBD5E1"/>
                </a:solidFill>
                <a:latin typeface="Aptos"/>
              </a:rPr>
              <a:t>COMPONENTS OF MULTIMEDIA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MULTIMEDIA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8FAFC"/>
                </a:solidFill>
                <a:latin typeface="Aptos"/>
              </a:rPr>
              <a:t>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8229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1">
                <a:solidFill>
                  <a:srgbClr val="CBD5E1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6629400" cy="4343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59893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8FAFC"/>
                </a:solidFill>
                <a:latin typeface="Aptos"/>
              </a:rPr>
              <a:t>A sequence of moving images, often with sound.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017520"/>
            <a:ext cx="5989320" cy="2560320"/>
          </a:xfrm>
          <a:prstGeom prst="rect">
            <a:avLst/>
          </a:prstGeom>
          <a:noFill/>
        </p:spPr>
        <p:txBody>
          <a:bodyPr wrap="square" lIns="73152" rIns="54864" tIns="73152" b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Shows real events, demonstrations and stories.</a:t>
            </a:r>
          </a:p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Useful for tutorials, news, films and online classes.</a:t>
            </a:r>
          </a:p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Common formats include MP4, MOV and WebM.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37360"/>
            <a:ext cx="3749039" cy="4343400"/>
          </a:xfrm>
          <a:prstGeom prst="roundRect">
            <a:avLst/>
          </a:prstGeom>
          <a:solidFill>
            <a:srgbClr val="182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057400"/>
            <a:ext cx="914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ACC15"/>
                </a:solidFill>
                <a:latin typeface="Aptos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606040"/>
            <a:ext cx="2834640" cy="1737360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9098280" y="3063240"/>
            <a:ext cx="685800" cy="685800"/>
          </a:xfrm>
          <a:prstGeom prst="triangl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572000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8FAFC"/>
                </a:solidFill>
                <a:latin typeface="Aptos"/>
              </a:rPr>
              <a:t>FRAME  →  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4983480"/>
            <a:ext cx="32004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EXAMPLE: A short video demonstrating an experiment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CBD5E1"/>
                </a:solidFill>
                <a:latin typeface="Aptos"/>
              </a:rPr>
              <a:t>COMPONENTS OF MULTIMEDIA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MULTIMEDIA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8FAFC"/>
                </a:solidFill>
                <a:latin typeface="Aptos"/>
              </a:rPr>
              <a:t>Animation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8229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1">
                <a:solidFill>
                  <a:srgbClr val="CBD5E1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6629400" cy="4343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59893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8FAFC"/>
                </a:solidFill>
                <a:latin typeface="Aptos"/>
              </a:rPr>
              <a:t>The illusion of movement created from images or objects.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017520"/>
            <a:ext cx="5989320" cy="2560320"/>
          </a:xfrm>
          <a:prstGeom prst="rect">
            <a:avLst/>
          </a:prstGeom>
          <a:noFill/>
        </p:spPr>
        <p:txBody>
          <a:bodyPr wrap="square" lIns="73152" rIns="54864" tIns="73152" b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Can be 2D, 3D or motion graphics.</a:t>
            </a:r>
          </a:p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Explains processes that are difficult to film in real life.</a:t>
            </a:r>
          </a:p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Used in cartoons, simulations, games and advertisements.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37360"/>
            <a:ext cx="3749039" cy="4343400"/>
          </a:xfrm>
          <a:prstGeom prst="roundRect">
            <a:avLst/>
          </a:prstGeom>
          <a:solidFill>
            <a:srgbClr val="182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057400"/>
            <a:ext cx="914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4ADE80"/>
                </a:solidFill>
                <a:latin typeface="Aptos"/>
              </a:rPr>
              <a:t>05</a:t>
            </a:r>
          </a:p>
        </p:txBody>
      </p:sp>
      <p:sp>
        <p:nvSpPr>
          <p:cNvPr id="11" name="Oval 10"/>
          <p:cNvSpPr/>
          <p:nvPr/>
        </p:nvSpPr>
        <p:spPr>
          <a:xfrm>
            <a:off x="8092440" y="2834640"/>
            <a:ext cx="658368" cy="65836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19" y="2834640"/>
            <a:ext cx="658368" cy="6583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29800" y="2834640"/>
            <a:ext cx="658368" cy="65836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384048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8FAFC"/>
                </a:solidFill>
                <a:latin typeface="Aptos"/>
              </a:rPr>
              <a:t>2D  •  3D  •  Motion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983480"/>
            <a:ext cx="32004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EXAMPLE: An animated model of the solar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CBD5E1"/>
                </a:solidFill>
                <a:latin typeface="Aptos"/>
              </a:rPr>
              <a:t>COMPONENTS OF MULTIMEDIA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MULTIMEDIA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8FAFC"/>
                </a:solidFill>
                <a:latin typeface="Aptos"/>
              </a:rPr>
              <a:t>Where is Multimedia Used?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8229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1">
                <a:solidFill>
                  <a:srgbClr val="CBD5E1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120640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8408" y="1984248"/>
            <a:ext cx="109728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938528"/>
            <a:ext cx="4297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2D3EE"/>
                </a:solidFill>
                <a:latin typeface="Aptos"/>
              </a:rPr>
              <a:t>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58568"/>
            <a:ext cx="43434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8FAFC"/>
                </a:solidFill>
                <a:latin typeface="Aptos"/>
              </a:rPr>
              <a:t>Online classes, tutorials and e-learning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783080"/>
            <a:ext cx="5120640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47688" y="1984248"/>
            <a:ext cx="109728" cy="5669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938528"/>
            <a:ext cx="4297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Aptos"/>
              </a:rPr>
              <a:t>ENTERTAINMENT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258568"/>
            <a:ext cx="43434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8FAFC"/>
                </a:solidFill>
                <a:latin typeface="Aptos"/>
              </a:rPr>
              <a:t>Films, music, animation and video games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108960"/>
            <a:ext cx="5120640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8408" y="3310128"/>
            <a:ext cx="109728" cy="56692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264408"/>
            <a:ext cx="4297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472B6"/>
                </a:solidFill>
                <a:latin typeface="Aptos"/>
              </a:rP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584448"/>
            <a:ext cx="43434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8FAFC"/>
                </a:solidFill>
                <a:latin typeface="Aptos"/>
              </a:rPr>
              <a:t>Presentations, product demos and advertising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108960"/>
            <a:ext cx="5120640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47688" y="3310128"/>
            <a:ext cx="109728" cy="5669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3264408"/>
            <a:ext cx="4297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Aptos"/>
              </a:rPr>
              <a:t>HEALTHCARE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584448"/>
            <a:ext cx="43434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8FAFC"/>
                </a:solidFill>
                <a:latin typeface="Aptos"/>
              </a:rPr>
              <a:t>Medical training and visual explanations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434840"/>
            <a:ext cx="5120640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8408" y="4636007"/>
            <a:ext cx="109728" cy="566928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590288"/>
            <a:ext cx="4297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ACC15"/>
                </a:solidFill>
                <a:latin typeface="Aptos"/>
              </a:rPr>
              <a:t>WEB &amp; APPS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910327"/>
            <a:ext cx="43434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8FAFC"/>
                </a:solidFill>
                <a:latin typeface="Aptos"/>
              </a:rPr>
              <a:t>Interactive websites and mobile applications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CBD5E1"/>
                </a:solidFill>
                <a:latin typeface="Aptos"/>
              </a:rPr>
              <a:t>COMPONENTS OF MULTIMEDIA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MULTIMEDIA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8FAFC"/>
                </a:solidFill>
                <a:latin typeface="Aptos"/>
              </a:rPr>
              <a:t>Benefits of Multimedia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8229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1">
                <a:solidFill>
                  <a:srgbClr val="CBD5E1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4290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99339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93392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8FAFC"/>
                </a:solidFill>
                <a:latin typeface="Aptos"/>
              </a:rPr>
              <a:t>Clearer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2971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CBD5E1"/>
                </a:solidFill>
                <a:latin typeface="Aptos"/>
              </a:rPr>
              <a:t>Combines words, visuals and sound.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4290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99339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993392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8FAFC"/>
                </a:solidFill>
                <a:latin typeface="Aptos"/>
              </a:rPr>
              <a:t>Better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487168"/>
            <a:ext cx="2971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CBD5E1"/>
                </a:solidFill>
                <a:latin typeface="Aptos"/>
              </a:rPr>
              <a:t>Keeps audiences interested.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828800"/>
            <a:ext cx="34290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67928" y="199339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993392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8FAFC"/>
                </a:solidFill>
                <a:latin typeface="Aptos"/>
              </a:rPr>
              <a:t>Easy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487168"/>
            <a:ext cx="2971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CBD5E1"/>
                </a:solidFill>
                <a:latin typeface="Aptos"/>
              </a:rPr>
              <a:t>Makes complex ideas easier to understand.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657600"/>
            <a:ext cx="34290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822191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22191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8FAFC"/>
                </a:solidFill>
                <a:latin typeface="Aptos"/>
              </a:rPr>
              <a:t>More memorable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15968"/>
            <a:ext cx="2971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CBD5E1"/>
                </a:solidFill>
                <a:latin typeface="Aptos"/>
              </a:rPr>
              <a:t>Visual and audio cues support recall.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657600"/>
            <a:ext cx="34290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3822191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2D3EE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822191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8FAFC"/>
                </a:solidFill>
                <a:latin typeface="Aptos"/>
              </a:rPr>
              <a:t>Flexible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315968"/>
            <a:ext cx="2971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CBD5E1"/>
                </a:solidFill>
                <a:latin typeface="Aptos"/>
              </a:rPr>
              <a:t>Works across classrooms, websites and apps.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3657600"/>
            <a:ext cx="34290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67928" y="3822191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2D3EE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822191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8FAFC"/>
                </a:solidFill>
                <a:latin typeface="Aptos"/>
              </a:rPr>
              <a:t>Interactive potential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315968"/>
            <a:ext cx="2971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CBD5E1"/>
                </a:solidFill>
                <a:latin typeface="Aptos"/>
              </a:rPr>
              <a:t>Can let users explore and respond.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CBD5E1"/>
                </a:solidFill>
                <a:latin typeface="Aptos"/>
              </a:rPr>
              <a:t>COMPONENTS OF MULTIMEDIA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MULTIMEDIA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8FAFC"/>
                </a:solidFill>
                <a:latin typeface="Aptos"/>
              </a:rPr>
              <a:t>Quick 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8229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1">
                <a:solidFill>
                  <a:srgbClr val="CBD5E1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6858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8FAFC"/>
                </a:solidFill>
                <a:latin typeface="Aptos"/>
              </a:rPr>
              <a:t>A multimedia project can combine: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60320"/>
            <a:ext cx="201168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Words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2560320"/>
            <a:ext cx="201168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283464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A78BFA"/>
                </a:solidFill>
                <a:latin typeface="Aptos"/>
              </a:rPr>
              <a:t>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33756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Visuals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560320"/>
            <a:ext cx="201168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83464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472B6"/>
                </a:solidFill>
                <a:latin typeface="Aptos"/>
              </a:rPr>
              <a:t>AUDIO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33756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Sound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560320"/>
            <a:ext cx="201168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83464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ACC15"/>
                </a:solidFill>
                <a:latin typeface="Aptos"/>
              </a:rPr>
              <a:t>VIDEO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33756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Moving scenes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2560320"/>
            <a:ext cx="201168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283464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4ADE80"/>
                </a:solidFill>
                <a:latin typeface="Aptos"/>
              </a:rPr>
              <a:t>ANIMATION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333756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Created motion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709160"/>
            <a:ext cx="10149840" cy="914400"/>
          </a:xfrm>
          <a:prstGeom prst="roundRect">
            <a:avLst/>
          </a:prstGeom>
          <a:solidFill>
            <a:srgbClr val="182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4983480"/>
            <a:ext cx="9601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22D3EE"/>
                </a:solidFill>
                <a:latin typeface="Aptos"/>
              </a:rPr>
              <a:t>The best multimedia uses the right media for the audience and purpose.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CBD5E1"/>
                </a:solidFill>
                <a:latin typeface="Aptos"/>
              </a:rPr>
              <a:t>COMPONENTS OF MULTIMEDIA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10744200" cy="5440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508760"/>
            <a:ext cx="99669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4200" b="1">
                <a:solidFill>
                  <a:srgbClr val="F8FAFC"/>
                </a:solidFill>
                <a:latin typeface="Aptos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500" b="1">
                <a:solidFill>
                  <a:srgbClr val="22D3EE"/>
                </a:solidFill>
                <a:latin typeface="Aptos"/>
              </a:rPr>
              <a:t>Any Questions?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3977639"/>
            <a:ext cx="1508760" cy="54864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45336" y="4142232"/>
            <a:ext cx="143560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Aptos"/>
              </a:rPr>
              <a:t>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3977639"/>
            <a:ext cx="1508760" cy="5486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74136" y="4142232"/>
            <a:ext cx="143560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Aptos"/>
              </a:rPr>
              <a:t>IMAGES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3977639"/>
            <a:ext cx="1508760" cy="54864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02936" y="4142232"/>
            <a:ext cx="143560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Aptos"/>
              </a:rPr>
              <a:t>AUDIO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3977639"/>
            <a:ext cx="1508760" cy="54864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31736" y="4142232"/>
            <a:ext cx="143560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Aptos"/>
              </a:rPr>
              <a:t>VIDEO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3977639"/>
            <a:ext cx="1508760" cy="5486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0536" y="4142232"/>
            <a:ext cx="143560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Aptos"/>
              </a:rPr>
              <a:t>ANIMATION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166360"/>
            <a:ext cx="9966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Presented by Muneeb Fayaz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Components of Multimedia</dc:title>
  <dc:subject>BCA Multimedia Presentation</dc:subject>
  <dc:creator>Muneeb Fayaz</dc:creator>
  <cp:keywords>Multimedia, Text, Images, Audio, Video, Animation, BCA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